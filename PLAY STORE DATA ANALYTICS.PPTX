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2" r:id="rId1"/>
  </p:sldMasterIdLst>
  <p:sldIdLst>
    <p:sldId id="256" r:id="rId2"/>
    <p:sldId id="258" r:id="rId3"/>
    <p:sldId id="257" r:id="rId4"/>
    <p:sldId id="268" r:id="rId5"/>
    <p:sldId id="259" r:id="rId6"/>
    <p:sldId id="260" r:id="rId7"/>
    <p:sldId id="269" r:id="rId8"/>
    <p:sldId id="261" r:id="rId9"/>
    <p:sldId id="262" r:id="rId10"/>
    <p:sldId id="270" r:id="rId11"/>
    <p:sldId id="263" r:id="rId12"/>
    <p:sldId id="271" r:id="rId13"/>
    <p:sldId id="264" r:id="rId14"/>
    <p:sldId id="272" r:id="rId15"/>
    <p:sldId id="265" r:id="rId16"/>
    <p:sldId id="273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Rating vs</a:t>
            </a:r>
            <a:r>
              <a:rPr lang="en-US" baseline="0"/>
              <a:t> </a:t>
            </a:r>
            <a:r>
              <a:rPr lang="en-US"/>
              <a:t>Installs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v>Installs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Sheet1!$A$1:$A$39</c:f>
              <c:numCache>
                <c:formatCode>General</c:formatCode>
                <c:ptCount val="39"/>
                <c:pt idx="0">
                  <c:v>1</c:v>
                </c:pt>
                <c:pt idx="1">
                  <c:v>1.2</c:v>
                </c:pt>
                <c:pt idx="2">
                  <c:v>1.4</c:v>
                </c:pt>
                <c:pt idx="3">
                  <c:v>1.5</c:v>
                </c:pt>
                <c:pt idx="4">
                  <c:v>1.6</c:v>
                </c:pt>
                <c:pt idx="5">
                  <c:v>1.7</c:v>
                </c:pt>
                <c:pt idx="6">
                  <c:v>1.8</c:v>
                </c:pt>
                <c:pt idx="7">
                  <c:v>1.9</c:v>
                </c:pt>
                <c:pt idx="8">
                  <c:v>2</c:v>
                </c:pt>
                <c:pt idx="9">
                  <c:v>2.1</c:v>
                </c:pt>
                <c:pt idx="10">
                  <c:v>2.2000000000000002</c:v>
                </c:pt>
                <c:pt idx="11">
                  <c:v>2.2999999999999998</c:v>
                </c:pt>
                <c:pt idx="12">
                  <c:v>2.4</c:v>
                </c:pt>
                <c:pt idx="13">
                  <c:v>2.5</c:v>
                </c:pt>
                <c:pt idx="14">
                  <c:v>2.6</c:v>
                </c:pt>
                <c:pt idx="15">
                  <c:v>2.7</c:v>
                </c:pt>
                <c:pt idx="16">
                  <c:v>2.8</c:v>
                </c:pt>
                <c:pt idx="17">
                  <c:v>2.9</c:v>
                </c:pt>
                <c:pt idx="18">
                  <c:v>3</c:v>
                </c:pt>
                <c:pt idx="19">
                  <c:v>3.1</c:v>
                </c:pt>
                <c:pt idx="20">
                  <c:v>3.2</c:v>
                </c:pt>
                <c:pt idx="21">
                  <c:v>3.3</c:v>
                </c:pt>
                <c:pt idx="22">
                  <c:v>3.4</c:v>
                </c:pt>
                <c:pt idx="23">
                  <c:v>3.5</c:v>
                </c:pt>
                <c:pt idx="24">
                  <c:v>3.6</c:v>
                </c:pt>
                <c:pt idx="25">
                  <c:v>3.7</c:v>
                </c:pt>
                <c:pt idx="26">
                  <c:v>3.8</c:v>
                </c:pt>
                <c:pt idx="27">
                  <c:v>3.9</c:v>
                </c:pt>
                <c:pt idx="28">
                  <c:v>4</c:v>
                </c:pt>
                <c:pt idx="29">
                  <c:v>4.0999999999999996</c:v>
                </c:pt>
                <c:pt idx="30">
                  <c:v>4.2</c:v>
                </c:pt>
                <c:pt idx="31">
                  <c:v>4.3</c:v>
                </c:pt>
                <c:pt idx="32">
                  <c:v>4.4000000000000004</c:v>
                </c:pt>
                <c:pt idx="33">
                  <c:v>4.5</c:v>
                </c:pt>
                <c:pt idx="34">
                  <c:v>4.5999999999999996</c:v>
                </c:pt>
                <c:pt idx="35">
                  <c:v>4.7</c:v>
                </c:pt>
                <c:pt idx="36">
                  <c:v>4.8</c:v>
                </c:pt>
                <c:pt idx="37">
                  <c:v>4.9000000000000004</c:v>
                </c:pt>
                <c:pt idx="38">
                  <c:v>5</c:v>
                </c:pt>
              </c:numCache>
            </c:numRef>
          </c:cat>
          <c:val>
            <c:numRef>
              <c:f>Sheet1!$B$1:$B$39</c:f>
              <c:numCache>
                <c:formatCode>General</c:formatCode>
                <c:ptCount val="39"/>
                <c:pt idx="0">
                  <c:v>323.125</c:v>
                </c:pt>
                <c:pt idx="1">
                  <c:v>1000</c:v>
                </c:pt>
                <c:pt idx="2">
                  <c:v>2333.3333333333298</c:v>
                </c:pt>
                <c:pt idx="3">
                  <c:v>368.33333333333297</c:v>
                </c:pt>
                <c:pt idx="4">
                  <c:v>38000</c:v>
                </c:pt>
                <c:pt idx="5">
                  <c:v>10212.5</c:v>
                </c:pt>
                <c:pt idx="6">
                  <c:v>64937.5</c:v>
                </c:pt>
                <c:pt idx="7">
                  <c:v>22307.692307692301</c:v>
                </c:pt>
                <c:pt idx="8">
                  <c:v>420012.5</c:v>
                </c:pt>
                <c:pt idx="9">
                  <c:v>22750</c:v>
                </c:pt>
                <c:pt idx="10">
                  <c:v>152185.714285714</c:v>
                </c:pt>
                <c:pt idx="11">
                  <c:v>13205</c:v>
                </c:pt>
                <c:pt idx="12">
                  <c:v>67584.210526315699</c:v>
                </c:pt>
                <c:pt idx="13">
                  <c:v>103905</c:v>
                </c:pt>
                <c:pt idx="14">
                  <c:v>18441.666666666599</c:v>
                </c:pt>
                <c:pt idx="15">
                  <c:v>146073.91304347801</c:v>
                </c:pt>
                <c:pt idx="16">
                  <c:v>87228.75</c:v>
                </c:pt>
                <c:pt idx="17">
                  <c:v>159802.22222222199</c:v>
                </c:pt>
                <c:pt idx="18">
                  <c:v>418705.85365853598</c:v>
                </c:pt>
                <c:pt idx="19">
                  <c:v>1544326.0869565201</c:v>
                </c:pt>
                <c:pt idx="20">
                  <c:v>448037.5</c:v>
                </c:pt>
                <c:pt idx="21">
                  <c:v>939126.73267326702</c:v>
                </c:pt>
                <c:pt idx="22">
                  <c:v>861527.16535432998</c:v>
                </c:pt>
                <c:pt idx="23">
                  <c:v>1478204.20382165</c:v>
                </c:pt>
                <c:pt idx="24">
                  <c:v>1459270.7100591699</c:v>
                </c:pt>
                <c:pt idx="25">
                  <c:v>7233982.5108225103</c:v>
                </c:pt>
                <c:pt idx="26">
                  <c:v>2124411.2627986302</c:v>
                </c:pt>
                <c:pt idx="27" formatCode="0.00E+00">
                  <c:v>13621089.516129</c:v>
                </c:pt>
                <c:pt idx="28" formatCode="0.00E+00">
                  <c:v>17795807.810760599</c:v>
                </c:pt>
                <c:pt idx="29">
                  <c:v>9483474.2770167403</c:v>
                </c:pt>
                <c:pt idx="30" formatCode="0.00E+00">
                  <c:v>17713555.360360298</c:v>
                </c:pt>
                <c:pt idx="31" formatCode="0.00E+00">
                  <c:v>32664120.777559001</c:v>
                </c:pt>
                <c:pt idx="32" formatCode="0.00E+00">
                  <c:v>27602683.236434098</c:v>
                </c:pt>
                <c:pt idx="33" formatCode="0.00E+00">
                  <c:v>31154983.582394999</c:v>
                </c:pt>
                <c:pt idx="34" formatCode="0.00E+00">
                  <c:v>13848869.53125</c:v>
                </c:pt>
                <c:pt idx="35">
                  <c:v>7459245.8884297498</c:v>
                </c:pt>
                <c:pt idx="36">
                  <c:v>1898355.21929824</c:v>
                </c:pt>
                <c:pt idx="37">
                  <c:v>504397.701149425</c:v>
                </c:pt>
                <c:pt idx="38">
                  <c:v>327.76014760147598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44A-42FE-ACC5-49C42B97E2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24965168"/>
        <c:axId val="424964184"/>
      </c:lineChart>
      <c:catAx>
        <c:axId val="4249651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Rating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0.46781221257599204"/>
              <c:y val="0.9251931449745252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4964184"/>
        <c:crosses val="autoZero"/>
        <c:auto val="1"/>
        <c:lblAlgn val="ctr"/>
        <c:lblOffset val="100"/>
        <c:noMultiLvlLbl val="0"/>
      </c:catAx>
      <c:valAx>
        <c:axId val="424964184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Average Installs</a:t>
                </a:r>
              </a:p>
            </c:rich>
          </c:tx>
          <c:layout>
            <c:manualLayout>
              <c:xMode val="edge"/>
              <c:yMode val="edge"/>
              <c:x val="1.4245014245014245E-2"/>
              <c:y val="0.3273081453053661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4965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Split of apps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608012726815082"/>
          <c:y val="0.16819532390205894"/>
          <c:w val="0.79774902691574257"/>
          <c:h val="0.7035765578755792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'Paid vs Free'!$A$1:$A$2</c:f>
              <c:strCache>
                <c:ptCount val="2"/>
                <c:pt idx="0">
                  <c:v>Free</c:v>
                </c:pt>
                <c:pt idx="1">
                  <c:v>Paid</c:v>
                </c:pt>
              </c:strCache>
            </c:strRef>
          </c:cat>
          <c:val>
            <c:numRef>
              <c:f>'Paid vs Free'!$B$1:$B$2</c:f>
              <c:numCache>
                <c:formatCode>General</c:formatCode>
                <c:ptCount val="2"/>
                <c:pt idx="0">
                  <c:v>9592</c:v>
                </c:pt>
                <c:pt idx="1">
                  <c:v>765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18-4266-BFBC-577C7CB897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69932600"/>
        <c:axId val="569933256"/>
      </c:barChart>
      <c:catAx>
        <c:axId val="569932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9933256"/>
        <c:crosses val="autoZero"/>
        <c:auto val="1"/>
        <c:lblAlgn val="ctr"/>
        <c:lblOffset val="100"/>
        <c:noMultiLvlLbl val="0"/>
      </c:catAx>
      <c:valAx>
        <c:axId val="56993325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</a:t>
                </a:r>
                <a:r>
                  <a:rPr lang="en-US" baseline="0"/>
                  <a:t> of Apps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99326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Avg</a:t>
            </a:r>
            <a:r>
              <a:rPr lang="en-US" baseline="0"/>
              <a:t> price of apps across categories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'Paid vs Free'!$L$1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'Paid vs Free'!$K$2:$K$6</c:f>
              <c:strCache>
                <c:ptCount val="5"/>
                <c:pt idx="0">
                  <c:v>FINANCE</c:v>
                </c:pt>
                <c:pt idx="1">
                  <c:v>LIFESTYLE</c:v>
                </c:pt>
                <c:pt idx="2">
                  <c:v>EVENTS</c:v>
                </c:pt>
                <c:pt idx="3">
                  <c:v>BUSINESS</c:v>
                </c:pt>
                <c:pt idx="4">
                  <c:v>FAMILY</c:v>
                </c:pt>
              </c:strCache>
            </c:strRef>
          </c:cat>
          <c:val>
            <c:numRef>
              <c:f>'Paid vs Free'!$L$2:$L$6</c:f>
              <c:numCache>
                <c:formatCode>General</c:formatCode>
                <c:ptCount val="5"/>
                <c:pt idx="0">
                  <c:v>170.63705473787601</c:v>
                </c:pt>
                <c:pt idx="1">
                  <c:v>124.25631326123199</c:v>
                </c:pt>
                <c:pt idx="2">
                  <c:v>109.98999786376901</c:v>
                </c:pt>
                <c:pt idx="3">
                  <c:v>14.607499678929599</c:v>
                </c:pt>
                <c:pt idx="4">
                  <c:v>12.945561256638101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9C-4CB3-B240-6F2C77910D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66465480"/>
        <c:axId val="566469088"/>
      </c:barChart>
      <c:catAx>
        <c:axId val="5664654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Category</a:t>
                </a:r>
              </a:p>
            </c:rich>
          </c:tx>
          <c:layout>
            <c:manualLayout>
              <c:xMode val="edge"/>
              <c:yMode val="edge"/>
              <c:x val="0.4446702148362614"/>
              <c:y val="0.9105630820601862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6469088"/>
        <c:crosses val="autoZero"/>
        <c:auto val="1"/>
        <c:lblAlgn val="ctr"/>
        <c:lblOffset val="100"/>
        <c:noMultiLvlLbl val="0"/>
      </c:catAx>
      <c:valAx>
        <c:axId val="56646908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Price in $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6465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Age Group Vs Installs</a:t>
            </a:r>
          </a:p>
        </c:rich>
      </c:tx>
      <c:layout>
        <c:manualLayout>
          <c:xMode val="edge"/>
          <c:yMode val="edge"/>
          <c:x val="0.36861506055818855"/>
          <c:y val="3.50877192982456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9696533194014251"/>
          <c:y val="0.13364912280701757"/>
          <c:w val="0.77143909144058409"/>
          <c:h val="0.7140585716259151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Contentbasedinstalls!$A$1:$A$6</c:f>
              <c:strCache>
                <c:ptCount val="6"/>
                <c:pt idx="0">
                  <c:v>Unrated</c:v>
                </c:pt>
                <c:pt idx="1">
                  <c:v>Adults only 18+</c:v>
                </c:pt>
                <c:pt idx="2">
                  <c:v>Mature 17+</c:v>
                </c:pt>
                <c:pt idx="3">
                  <c:v>Everyone 10+</c:v>
                </c:pt>
                <c:pt idx="4">
                  <c:v>Teen</c:v>
                </c:pt>
                <c:pt idx="5">
                  <c:v>Everyone</c:v>
                </c:pt>
              </c:strCache>
            </c:strRef>
          </c:cat>
          <c:val>
            <c:numRef>
              <c:f>Contentbasedinstalls!$B$1:$B$6</c:f>
              <c:numCache>
                <c:formatCode>General</c:formatCode>
                <c:ptCount val="6"/>
                <c:pt idx="0">
                  <c:v>50500</c:v>
                </c:pt>
                <c:pt idx="1">
                  <c:v>2000000</c:v>
                </c:pt>
                <c:pt idx="2" formatCode="0.00E+00">
                  <c:v>4290696878</c:v>
                </c:pt>
                <c:pt idx="3" formatCode="0.00E+00">
                  <c:v>11191271795</c:v>
                </c:pt>
                <c:pt idx="4" formatCode="0.00E+00">
                  <c:v>30918280393</c:v>
                </c:pt>
                <c:pt idx="5" formatCode="0.00E+00">
                  <c:v>100229615961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12-4A47-BB01-13898B48EC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66470400"/>
        <c:axId val="566464824"/>
      </c:barChart>
      <c:catAx>
        <c:axId val="5664704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Age</a:t>
                </a:r>
                <a:r>
                  <a:rPr lang="en-US" baseline="0"/>
                  <a:t> Group</a:t>
                </a:r>
                <a:endParaRPr lang="en-US"/>
              </a:p>
            </c:rich>
          </c:tx>
          <c:layout>
            <c:manualLayout>
              <c:xMode val="edge"/>
              <c:yMode val="edge"/>
              <c:x val="0.46756643571212364"/>
              <c:y val="0.9278955656858681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6464824"/>
        <c:crosses val="autoZero"/>
        <c:auto val="1"/>
        <c:lblAlgn val="ctr"/>
        <c:lblOffset val="100"/>
        <c:noMultiLvlLbl val="0"/>
      </c:catAx>
      <c:valAx>
        <c:axId val="56646482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Installs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64704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Trend of</a:t>
            </a:r>
            <a:r>
              <a:rPr lang="en-US" baseline="0"/>
              <a:t> </a:t>
            </a:r>
            <a:r>
              <a:rPr lang="en-US"/>
              <a:t>Installs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Trendanalysis!$B$1</c:f>
              <c:strCache>
                <c:ptCount val="1"/>
                <c:pt idx="0">
                  <c:v>Avg Installs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Trendanalysis!$A$2:$A$10</c:f>
              <c:numCache>
                <c:formatCode>General</c:formatCode>
                <c:ptCount val="9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</c:numCache>
            </c:numRef>
          </c:cat>
          <c:val>
            <c:numRef>
              <c:f>Trendanalysis!$B$2:$B$10</c:f>
              <c:numCache>
                <c:formatCode>General</c:formatCode>
                <c:ptCount val="9"/>
                <c:pt idx="0">
                  <c:v>100000</c:v>
                </c:pt>
                <c:pt idx="1">
                  <c:v>1160473.33333333</c:v>
                </c:pt>
                <c:pt idx="2">
                  <c:v>555688.4</c:v>
                </c:pt>
                <c:pt idx="3">
                  <c:v>970741.40776699001</c:v>
                </c:pt>
                <c:pt idx="4">
                  <c:v>1298388.90816326</c:v>
                </c:pt>
                <c:pt idx="5">
                  <c:v>865201.29840546695</c:v>
                </c:pt>
                <c:pt idx="6">
                  <c:v>1277229.37687074</c:v>
                </c:pt>
                <c:pt idx="7">
                  <c:v>1512071.42655699</c:v>
                </c:pt>
                <c:pt idx="8">
                  <c:v>9581788.2964743506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F97-434C-B1A7-FD1D8D3854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49107648"/>
        <c:axId val="649107976"/>
      </c:lineChart>
      <c:catAx>
        <c:axId val="64910764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Year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9107976"/>
        <c:crosses val="autoZero"/>
        <c:auto val="1"/>
        <c:lblAlgn val="ctr"/>
        <c:lblOffset val="100"/>
        <c:noMultiLvlLbl val="0"/>
      </c:catAx>
      <c:valAx>
        <c:axId val="64910797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Avg Installs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9107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>
                <a:effectLst/>
              </a:rPr>
              <a:t>Trend of Avg</a:t>
            </a:r>
            <a:r>
              <a:rPr lang="en-US"/>
              <a:t> Size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2"/>
          <c:order val="0"/>
          <c:tx>
            <c:strRef>
              <c:f>Trendanalysis!$C$1</c:f>
              <c:strCache>
                <c:ptCount val="1"/>
                <c:pt idx="0">
                  <c:v>Avg Size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Trendanalysis!$A$2:$A$10</c:f>
              <c:numCache>
                <c:formatCode>General</c:formatCode>
                <c:ptCount val="9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</c:numCache>
            </c:numRef>
          </c:cat>
          <c:val>
            <c:numRef>
              <c:f>Trendanalysis!$C$2:$C$10</c:f>
              <c:numCache>
                <c:formatCode>General</c:formatCode>
                <c:ptCount val="9"/>
                <c:pt idx="0">
                  <c:v>209</c:v>
                </c:pt>
                <c:pt idx="1">
                  <c:v>1548.2133219401001</c:v>
                </c:pt>
                <c:pt idx="2">
                  <c:v>2993.0800195312499</c:v>
                </c:pt>
                <c:pt idx="3">
                  <c:v>7374.6601811381197</c:v>
                </c:pt>
                <c:pt idx="4">
                  <c:v>9865.6540782694901</c:v>
                </c:pt>
                <c:pt idx="5">
                  <c:v>10567.842830162601</c:v>
                </c:pt>
                <c:pt idx="6">
                  <c:v>15731.9580988254</c:v>
                </c:pt>
                <c:pt idx="7">
                  <c:v>18431.919678164701</c:v>
                </c:pt>
                <c:pt idx="8">
                  <c:v>25309.658119766798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83-49D9-BE59-B36283A5C1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49105352"/>
        <c:axId val="649110272"/>
      </c:lineChart>
      <c:catAx>
        <c:axId val="64910535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Year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9110272"/>
        <c:crosses val="autoZero"/>
        <c:auto val="1"/>
        <c:lblAlgn val="ctr"/>
        <c:lblOffset val="100"/>
        <c:noMultiLvlLbl val="0"/>
      </c:catAx>
      <c:valAx>
        <c:axId val="64911027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Avg size in kb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9105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654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176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49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494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93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715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475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550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998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084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1562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0209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75976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5868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027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413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47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3109" y="354496"/>
            <a:ext cx="8915399" cy="2262781"/>
          </a:xfrm>
        </p:spPr>
        <p:txBody>
          <a:bodyPr/>
          <a:lstStyle/>
          <a:p>
            <a:r>
              <a:rPr lang="en-US" dirty="0"/>
              <a:t>GOOGLE PLAY STORE APPS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E21FF1-62D8-4844-8BB3-4DCEC3896C17}"/>
              </a:ext>
            </a:extLst>
          </p:cNvPr>
          <p:cNvSpPr txBox="1"/>
          <p:nvPr/>
        </p:nvSpPr>
        <p:spPr>
          <a:xfrm>
            <a:off x="6983895" y="4328275"/>
            <a:ext cx="54351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-Aniket Kulkarni ask172530</a:t>
            </a:r>
          </a:p>
          <a:p>
            <a:endParaRPr lang="en-US" b="1" dirty="0"/>
          </a:p>
          <a:p>
            <a:r>
              <a:rPr lang="en-US" b="1" dirty="0"/>
              <a:t>-Sai Venkat </a:t>
            </a:r>
            <a:r>
              <a:rPr lang="en-US" b="1" dirty="0" smtClean="0"/>
              <a:t>sxv178230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-Soham Bhalerao swb170030</a:t>
            </a:r>
          </a:p>
          <a:p>
            <a:endParaRPr lang="en-US" b="1" dirty="0"/>
          </a:p>
          <a:p>
            <a:r>
              <a:rPr lang="en-US" b="1" dirty="0"/>
              <a:t>-Vijayalakshmi Krishnaswami vxk172830</a:t>
            </a:r>
          </a:p>
        </p:txBody>
      </p:sp>
    </p:spTree>
    <p:extLst>
      <p:ext uri="{BB962C8B-B14F-4D97-AF65-F5344CB8AC3E}">
        <p14:creationId xmlns:p14="http://schemas.microsoft.com/office/powerpoint/2010/main" val="1643014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Scrapped data of approximately 10k Play store apps for analyzing android market.</a:t>
            </a:r>
          </a:p>
          <a:p>
            <a:r>
              <a:rPr lang="en-US" dirty="0"/>
              <a:t>Each app (row) has values for category, rating, size, and more</a:t>
            </a:r>
          </a:p>
          <a:p>
            <a:r>
              <a:rPr lang="en-US" dirty="0"/>
              <a:t>Shape of data set is 10842*13</a:t>
            </a:r>
          </a:p>
        </p:txBody>
      </p:sp>
    </p:spTree>
    <p:extLst>
      <p:ext uri="{BB962C8B-B14F-4D97-AF65-F5344CB8AC3E}">
        <p14:creationId xmlns:p14="http://schemas.microsoft.com/office/powerpoint/2010/main" val="1262456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DATASET?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Play Store apps data has enormous potential to drive app-making businesses to success</a:t>
            </a:r>
          </a:p>
          <a:p>
            <a:r>
              <a:rPr lang="en-US" dirty="0"/>
              <a:t>Actionable insights can be drawn for developers to work on and capture the Android market</a:t>
            </a:r>
          </a:p>
          <a:p>
            <a:r>
              <a:rPr lang="en-US" dirty="0"/>
              <a:t>Data needs preprocessing which gives us a better chance of exploring hive and it's analytical power</a:t>
            </a:r>
          </a:p>
        </p:txBody>
      </p:sp>
    </p:spTree>
    <p:extLst>
      <p:ext uri="{BB962C8B-B14F-4D97-AF65-F5344CB8AC3E}">
        <p14:creationId xmlns:p14="http://schemas.microsoft.com/office/powerpoint/2010/main" val="1610111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9500 unique apps, so duplicates need to be removed. E.g.- Multiple entries for Facebook, Instagram</a:t>
            </a:r>
          </a:p>
          <a:p>
            <a:r>
              <a:rPr lang="en-US" dirty="0"/>
              <a:t>Column category has a category 1.9 which needs to be dropped</a:t>
            </a:r>
          </a:p>
          <a:p>
            <a:r>
              <a:rPr lang="en-US" dirty="0"/>
              <a:t>Size column has MB and KB data, so it will be converted to MB</a:t>
            </a:r>
          </a:p>
          <a:p>
            <a:r>
              <a:rPr lang="en-US" dirty="0"/>
              <a:t>Installs column has special char like "," and "+". It will stripped</a:t>
            </a:r>
          </a:p>
          <a:p>
            <a:r>
              <a:rPr lang="en-US" dirty="0"/>
              <a:t>Column Android version will be converted to 8 categories to make it more generalized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525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RATING CORELATED TO INSTALLMENTS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Correlation between rating and installs</a:t>
            </a:r>
          </a:p>
          <a:p>
            <a:r>
              <a:rPr lang="en-US" dirty="0"/>
              <a:t>Tool used – HIVE</a:t>
            </a:r>
          </a:p>
          <a:p>
            <a:r>
              <a:rPr lang="en-US" dirty="0"/>
              <a:t>Preprocessing : - Ratings will be converted to numeric. “,” and “+” removed from installs.</a:t>
            </a:r>
          </a:p>
          <a:p>
            <a:r>
              <a:rPr lang="en-US" dirty="0"/>
              <a:t>Columns used – Rating, Installs</a:t>
            </a:r>
          </a:p>
        </p:txBody>
      </p:sp>
    </p:spTree>
    <p:extLst>
      <p:ext uri="{BB962C8B-B14F-4D97-AF65-F5344CB8AC3E}">
        <p14:creationId xmlns:p14="http://schemas.microsoft.com/office/powerpoint/2010/main" val="3368558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Rating</a:t>
            </a:r>
          </a:p>
          <a:p>
            <a:r>
              <a:rPr lang="en-US" dirty="0"/>
              <a:t>Distinct values – 50</a:t>
            </a:r>
          </a:p>
          <a:p>
            <a:r>
              <a:rPr lang="en-US" dirty="0"/>
              <a:t>Min -1 &amp; Max – 5</a:t>
            </a:r>
          </a:p>
          <a:p>
            <a:r>
              <a:rPr lang="en-US" dirty="0"/>
              <a:t>Average – 3.7</a:t>
            </a:r>
          </a:p>
          <a:p>
            <a:r>
              <a:rPr lang="en-US" dirty="0"/>
              <a:t>No of Null – 0</a:t>
            </a:r>
          </a:p>
          <a:p>
            <a:r>
              <a:rPr lang="en-US" dirty="0"/>
              <a:t>No of missing values – 1475</a:t>
            </a:r>
          </a:p>
          <a:p>
            <a:r>
              <a:rPr lang="en-US" dirty="0"/>
              <a:t>Top 10 – 5, 0.000148%</a:t>
            </a:r>
          </a:p>
        </p:txBody>
      </p:sp>
    </p:spTree>
    <p:extLst>
      <p:ext uri="{BB962C8B-B14F-4D97-AF65-F5344CB8AC3E}">
        <p14:creationId xmlns:p14="http://schemas.microsoft.com/office/powerpoint/2010/main" val="3685195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6629381"/>
              </p:ext>
            </p:extLst>
          </p:nvPr>
        </p:nvGraphicFramePr>
        <p:xfrm>
          <a:off x="2597526" y="1593273"/>
          <a:ext cx="8915400" cy="3778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09584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CATEGORYWISE DISTRIBUTION OF FREE AND PAID APPS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of free and paid apps.</a:t>
            </a:r>
          </a:p>
          <a:p>
            <a:r>
              <a:rPr lang="en-US" dirty="0"/>
              <a:t>Maximum average price across categories.</a:t>
            </a:r>
          </a:p>
          <a:p>
            <a:r>
              <a:rPr lang="en-US" dirty="0"/>
              <a:t>Tool used – HIVE</a:t>
            </a:r>
          </a:p>
          <a:p>
            <a:r>
              <a:rPr lang="en-US" dirty="0"/>
              <a:t>Preprocessing:- Category 1.9 will be deleted, Price to be made numeric.</a:t>
            </a:r>
          </a:p>
          <a:p>
            <a:r>
              <a:rPr lang="en-US" dirty="0"/>
              <a:t>Columns used – Category, Price, Type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283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Price</a:t>
            </a:r>
          </a:p>
          <a:p>
            <a:r>
              <a:rPr lang="en-US" dirty="0"/>
              <a:t>Distinct values – 41</a:t>
            </a:r>
          </a:p>
          <a:p>
            <a:r>
              <a:rPr lang="en-US" dirty="0"/>
              <a:t>Min - 0  &amp; Max – 399.99 </a:t>
            </a:r>
          </a:p>
          <a:p>
            <a:r>
              <a:rPr lang="en-US" dirty="0"/>
              <a:t>Average – 1.44</a:t>
            </a:r>
          </a:p>
          <a:p>
            <a:r>
              <a:rPr lang="en-US" dirty="0"/>
              <a:t>No of Null – 0</a:t>
            </a:r>
          </a:p>
          <a:p>
            <a:r>
              <a:rPr lang="en-US" dirty="0"/>
              <a:t>No of missing values – 0</a:t>
            </a:r>
          </a:p>
          <a:p>
            <a:r>
              <a:rPr lang="en-US" dirty="0"/>
              <a:t>Top 10 – 399.99, 0.040%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85018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1671533"/>
              </p:ext>
            </p:extLst>
          </p:nvPr>
        </p:nvGraphicFramePr>
        <p:xfrm>
          <a:off x="3204356" y="404552"/>
          <a:ext cx="6546474" cy="27127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2539881"/>
              </p:ext>
            </p:extLst>
          </p:nvPr>
        </p:nvGraphicFramePr>
        <p:xfrm>
          <a:off x="3204356" y="3483031"/>
          <a:ext cx="6546474" cy="28762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99777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POPULARITY VS RATING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popular apps rated highly?</a:t>
            </a:r>
          </a:p>
          <a:p>
            <a:r>
              <a:rPr lang="en-US" dirty="0"/>
              <a:t>Are there any highly rated apps those need more popularity?</a:t>
            </a:r>
          </a:p>
          <a:p>
            <a:r>
              <a:rPr lang="en-US" dirty="0"/>
              <a:t> Tool used – HIVE</a:t>
            </a:r>
          </a:p>
          <a:p>
            <a:r>
              <a:rPr lang="en-US" dirty="0"/>
              <a:t>Preprocessing :- Already processed</a:t>
            </a:r>
          </a:p>
          <a:p>
            <a:r>
              <a:rPr lang="en-US" dirty="0"/>
              <a:t>Columns used – App, Ratings, Installs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277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891843"/>
              </p:ext>
            </p:extLst>
          </p:nvPr>
        </p:nvGraphicFramePr>
        <p:xfrm>
          <a:off x="2987183" y="575481"/>
          <a:ext cx="4668839" cy="2159405"/>
        </p:xfrm>
        <a:graphic>
          <a:graphicData uri="http://schemas.openxmlformats.org/drawingml/2006/table">
            <a:tbl>
              <a:tblPr/>
              <a:tblGrid>
                <a:gridCol w="3643373">
                  <a:extLst>
                    <a:ext uri="{9D8B030D-6E8A-4147-A177-3AD203B41FA5}">
                      <a16:colId xmlns:a16="http://schemas.microsoft.com/office/drawing/2014/main" val="4048252031"/>
                    </a:ext>
                  </a:extLst>
                </a:gridCol>
                <a:gridCol w="511134">
                  <a:extLst>
                    <a:ext uri="{9D8B030D-6E8A-4147-A177-3AD203B41FA5}">
                      <a16:colId xmlns:a16="http://schemas.microsoft.com/office/drawing/2014/main" val="2758471330"/>
                    </a:ext>
                  </a:extLst>
                </a:gridCol>
                <a:gridCol w="514332">
                  <a:extLst>
                    <a:ext uri="{9D8B030D-6E8A-4147-A177-3AD203B41FA5}">
                      <a16:colId xmlns:a16="http://schemas.microsoft.com/office/drawing/2014/main" val="1734293367"/>
                    </a:ext>
                  </a:extLst>
                </a:gridCol>
              </a:tblGrid>
              <a:tr h="2042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Rating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Installs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2241246"/>
                  </a:ext>
                </a:extLst>
              </a:tr>
              <a:tr h="19454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Superheroes, Marvel, DC, Comics, TV, Movies News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9901405"/>
                  </a:ext>
                </a:extLst>
              </a:tr>
              <a:tr h="19454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Startupticker.ch News, Events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9667473"/>
                  </a:ext>
                </a:extLst>
              </a:tr>
              <a:tr h="19454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iReadMe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5339582"/>
                  </a:ext>
                </a:extLst>
              </a:tr>
              <a:tr h="19454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420 BZ Budeze Delivery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7668697"/>
                  </a:ext>
                </a:extLst>
              </a:tr>
              <a:tr h="19454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211:CK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3481405"/>
                  </a:ext>
                </a:extLst>
              </a:tr>
              <a:tr h="19454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FD Calculator (EMI, SIP, RD &amp; Loan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Eligibility)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1894804"/>
                  </a:ext>
                </a:extLst>
              </a:tr>
              <a:tr h="19454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Kolkata News:Anandbazar Patrika,ei samay&amp;AllRating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6883832"/>
                  </a:ext>
                </a:extLst>
              </a:tr>
              <a:tr h="19454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A-Y Collection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800529"/>
                  </a:ext>
                </a:extLst>
              </a:tr>
              <a:tr h="19454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meStudying: AP English Lit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1036787"/>
                  </a:ext>
                </a:extLst>
              </a:tr>
              <a:tr h="20426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Beacon Baptist Jupiter, FL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234669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453716"/>
              </p:ext>
            </p:extLst>
          </p:nvPr>
        </p:nvGraphicFramePr>
        <p:xfrm>
          <a:off x="2987182" y="3293745"/>
          <a:ext cx="4668840" cy="2408788"/>
        </p:xfrm>
        <a:graphic>
          <a:graphicData uri="http://schemas.openxmlformats.org/drawingml/2006/table">
            <a:tbl>
              <a:tblPr/>
              <a:tblGrid>
                <a:gridCol w="3435958">
                  <a:extLst>
                    <a:ext uri="{9D8B030D-6E8A-4147-A177-3AD203B41FA5}">
                      <a16:colId xmlns:a16="http://schemas.microsoft.com/office/drawing/2014/main" val="1811790247"/>
                    </a:ext>
                  </a:extLst>
                </a:gridCol>
                <a:gridCol w="490351">
                  <a:extLst>
                    <a:ext uri="{9D8B030D-6E8A-4147-A177-3AD203B41FA5}">
                      <a16:colId xmlns:a16="http://schemas.microsoft.com/office/drawing/2014/main" val="2406893426"/>
                    </a:ext>
                  </a:extLst>
                </a:gridCol>
                <a:gridCol w="742531">
                  <a:extLst>
                    <a:ext uri="{9D8B030D-6E8A-4147-A177-3AD203B41FA5}">
                      <a16:colId xmlns:a16="http://schemas.microsoft.com/office/drawing/2014/main" val="3380174487"/>
                    </a:ext>
                  </a:extLst>
                </a:gridCol>
              </a:tblGrid>
              <a:tr h="227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Rating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Installs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534424"/>
                  </a:ext>
                </a:extLst>
              </a:tr>
              <a:tr h="21700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Candy Crush Saga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75119"/>
                  </a:ext>
                </a:extLst>
              </a:tr>
              <a:tr h="21700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Candy Crush Saga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776881"/>
                  </a:ext>
                </a:extLst>
              </a:tr>
              <a:tr h="21700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imo free video calls and chat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4853737"/>
                  </a:ext>
                </a:extLst>
              </a:tr>
              <a:tr h="21700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Dropbox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9191656"/>
                  </a:ext>
                </a:extLst>
              </a:tr>
              <a:tr h="21700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Cloud Print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895681"/>
                  </a:ext>
                </a:extLst>
              </a:tr>
              <a:tr h="21700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Candy Crush Saga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9707571"/>
                  </a:ext>
                </a:extLst>
              </a:tr>
              <a:tr h="21700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Candy Crush Saga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925236"/>
                  </a:ext>
                </a:extLst>
              </a:tr>
              <a:tr h="21700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Dropbox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0136278"/>
                  </a:ext>
                </a:extLst>
              </a:tr>
              <a:tr h="21700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imo free video calls and chat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615229"/>
                  </a:ext>
                </a:extLst>
              </a:tr>
              <a:tr h="2278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Security Master - Antivirus, VPN, AppLock, Booster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1706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379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CATEGORY BASED ON CONTENT RATING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Role of age group against category.</a:t>
            </a:r>
          </a:p>
          <a:p>
            <a:r>
              <a:rPr lang="en-US" dirty="0"/>
              <a:t>Check installation across age groups.</a:t>
            </a:r>
          </a:p>
          <a:p>
            <a:r>
              <a:rPr lang="en-US" dirty="0"/>
              <a:t>Tool used – HIVE</a:t>
            </a:r>
          </a:p>
          <a:p>
            <a:r>
              <a:rPr lang="en-US" dirty="0"/>
              <a:t>Preprocessing :- Already processed</a:t>
            </a:r>
          </a:p>
          <a:p>
            <a:r>
              <a:rPr lang="en-US" dirty="0"/>
              <a:t>Columns used – Category, Content Rating, Installs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767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7051839"/>
              </p:ext>
            </p:extLst>
          </p:nvPr>
        </p:nvGraphicFramePr>
        <p:xfrm>
          <a:off x="3450791" y="1379105"/>
          <a:ext cx="6029325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12625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 OF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Yearly analysis on installation.</a:t>
            </a:r>
          </a:p>
          <a:p>
            <a:r>
              <a:rPr lang="en-US" dirty="0"/>
              <a:t>Has the average size of app changed over the years.</a:t>
            </a:r>
          </a:p>
          <a:p>
            <a:r>
              <a:rPr lang="en-US" dirty="0"/>
              <a:t>Tool used – HIVE</a:t>
            </a:r>
          </a:p>
          <a:p>
            <a:r>
              <a:rPr lang="en-US" dirty="0"/>
              <a:t>Preprocessing :- Already processed</a:t>
            </a:r>
          </a:p>
          <a:p>
            <a:r>
              <a:rPr lang="en-US" dirty="0"/>
              <a:t>Columns used – Installs, Size, Last Updated.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357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9398383"/>
              </p:ext>
            </p:extLst>
          </p:nvPr>
        </p:nvGraphicFramePr>
        <p:xfrm>
          <a:off x="3150392" y="185737"/>
          <a:ext cx="6242989" cy="27237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5820785"/>
              </p:ext>
            </p:extLst>
          </p:nvPr>
        </p:nvGraphicFramePr>
        <p:xfrm>
          <a:off x="3150392" y="3134244"/>
          <a:ext cx="6242989" cy="29174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43519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0410" y="2857858"/>
            <a:ext cx="8911687" cy="1280890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2607177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1555</TotalTime>
  <Words>621</Words>
  <Application>Microsoft Office PowerPoint</Application>
  <PresentationFormat>Widescreen</PresentationFormat>
  <Paragraphs>151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Century Gothic</vt:lpstr>
      <vt:lpstr>Wingdings 3</vt:lpstr>
      <vt:lpstr>Wisp</vt:lpstr>
      <vt:lpstr>GOOGLE PLAY STORE APPS</vt:lpstr>
      <vt:lpstr>OVERVIEW</vt:lpstr>
      <vt:lpstr>WHY THIS DATASET?</vt:lpstr>
      <vt:lpstr>BASIC PREPROCESSING</vt:lpstr>
      <vt:lpstr>IS RATING CORELATED TO INSTALLMENTS</vt:lpstr>
      <vt:lpstr>COLUMN ANALYSIS</vt:lpstr>
      <vt:lpstr>PowerPoint Presentation</vt:lpstr>
      <vt:lpstr>CATEGORYWISE DISTRIBUTION OF FREE AND PAID APPS</vt:lpstr>
      <vt:lpstr>COLUMN ANALYSIS</vt:lpstr>
      <vt:lpstr>PowerPoint Presentation</vt:lpstr>
      <vt:lpstr>POPULARITY VS RATING</vt:lpstr>
      <vt:lpstr>PowerPoint Presentation</vt:lpstr>
      <vt:lpstr>CATEGORY BASED ON CONTENT RATING</vt:lpstr>
      <vt:lpstr>PowerPoint Presentation</vt:lpstr>
      <vt:lpstr>TREND OF INSTALLATION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 STORE DATA ANALYTICS</dc:title>
  <dc:creator>Windows User</dc:creator>
  <cp:lastModifiedBy>Vishwanath, Sai Venkat</cp:lastModifiedBy>
  <cp:revision>43</cp:revision>
  <dcterms:created xsi:type="dcterms:W3CDTF">2018-11-12T02:26:50Z</dcterms:created>
  <dcterms:modified xsi:type="dcterms:W3CDTF">2018-12-04T19:14:30Z</dcterms:modified>
</cp:coreProperties>
</file>